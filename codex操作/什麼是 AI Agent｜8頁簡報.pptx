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Shape"/>
          <p:cNvSpPr/>
          <p:nvPr/>
        </p:nvSpPr>
        <p:spPr>
          <a:xfrm>
            <a:off x="720000" y="1050000"/>
            <a:ext cx="180000" cy="400000"/>
          </a:xfrm>
          <a:prstGeom prst="roundRect">
            <a:avLst/>
          </a:prstGeom>
          <a:solidFill>
            <a:srgbClr val="54D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150000" y="1050000"/>
            <a:ext cx="9000000" cy="9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4200" b="1" solidFill="FFFFFF" typeface="Microsoft JhengHei"/>
              <a:t>什麼是 AI Agent？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180000" y="2050000"/>
            <a:ext cx="7500000" cy="6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200" b="0" solidFill="A9B8D4" typeface="Microsoft JhengHei"/>
              <a:t>從「回答問題」走向「自主完成任務」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1180000" y="3450000"/>
            <a:ext cx="7800000" cy="12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550000" y="3750000"/>
            <a:ext cx="7000000" cy="5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300" b="1" solidFill="54D5FF" typeface="Microsoft JhengHei"/>
              <a:t>理解目標  →  規劃  →  行動  →  觀察  →  調整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180000" y="5350000"/>
            <a:ext cx="6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600" b="0" solidFill="EAF2FF" typeface="Microsoft JhengHei"/>
              <a:t>AI 不只是對話工具，更是可協作的數位執行者。</a:t>
            </a:r>
            <a:endParaRPr 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02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Chatbot vs. AI Agent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關鍵差別：回覆資訊，或持續推進目標。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750000" y="2200000"/>
            <a:ext cx="4700000" cy="30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Shape"/>
          <p:cNvSpPr/>
          <p:nvPr/>
        </p:nvSpPr>
        <p:spPr>
          <a:xfrm>
            <a:off x="6800000" y="2200000"/>
            <a:ext cx="4700000" cy="300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100000" y="2500000"/>
            <a:ext cx="3500000" cy="3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300" b="1" solidFill="FFFFFF" typeface="Microsoft JhengHei"/>
              <a:t>一般聊天機器人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7150000" y="2500000"/>
            <a:ext cx="3500000" cy="3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300" b="1" solidFill="54D5FF" typeface="Microsoft JhengHei"/>
              <a:t>AI Agent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150000" y="3100000"/>
            <a:ext cx="3600000" cy="1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800" b="0" solidFill="EAF2FF" typeface="Microsoft JhengHei"/>
              <a:t>• 回答當下問題</a:t>
            </a:r>
            <a:br/>
            <a:r>
              <a:rPr lang="zh-TW" sz="1800" b="0" solidFill="EAF2FF" typeface="Microsoft JhengHei"/>
              <a:t>• 一問一答</a:t>
            </a:r>
            <a:br/>
            <a:r>
              <a:rPr lang="zh-TW" sz="1800" b="0" solidFill="EAF2FF" typeface="Microsoft JhengHei"/>
              <a:t>• 主要產出文字</a:t>
            </a:r>
            <a:br/>
            <a:r>
              <a:rPr lang="zh-TW" sz="1800" b="0" solidFill="EAF2FF" typeface="Microsoft JhengHei"/>
              <a:t>• 對話結束即停止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7150000" y="3100000"/>
            <a:ext cx="3600000" cy="1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800" b="0" solidFill="EAF2FF" typeface="Microsoft JhengHei"/>
              <a:t>• 以目標為中心</a:t>
            </a:r>
            <a:br/>
            <a:r>
              <a:rPr lang="zh-TW" sz="1800" b="0" solidFill="EAF2FF" typeface="Microsoft JhengHei"/>
              <a:t>• 自行拆解多步驟</a:t>
            </a:r>
            <a:br/>
            <a:r>
              <a:rPr lang="zh-TW" sz="1800" b="0" solidFill="EAF2FF" typeface="Microsoft JhengHei"/>
              <a:t>• 可使用工具與系統</a:t>
            </a:r>
            <a:br/>
            <a:r>
              <a:rPr lang="zh-TW" sz="1800" b="0" solidFill="EAF2FF" typeface="Microsoft JhengHei"/>
              <a:t>• 依結果調整策略</a:t>
            </a:r>
            <a:endParaRPr 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03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AI Agent 的運作循環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它在每一次行動後讀取結果，再決定下一步。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650000" y="2850000"/>
            <a:ext cx="1450000" cy="7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650000" y="3060000"/>
            <a:ext cx="145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目標</a:t>
            </a:r>
            <a:endParaRPr lang="zh-TW"/>
          </a:p>
        </p:txBody>
      </p:sp>
      <p:cxnSp>
        <p:nvCxnSpPr>
          <p:cNvPr id="3" name="Connector"/>
          <p:cNvCxnSpPr/>
          <p:nvPr/>
        </p:nvCxnSpPr>
        <p:spPr>
          <a:xfrm>
            <a:off x="2100000" y="3200000"/>
            <a:ext cx="40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sp>
        <p:nvSpPr>
          <p:cNvPr id="2" name="Shape"/>
          <p:cNvSpPr/>
          <p:nvPr/>
        </p:nvSpPr>
        <p:spPr>
          <a:xfrm>
            <a:off x="2550000" y="2850000"/>
            <a:ext cx="1450000" cy="70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2550000" y="3060000"/>
            <a:ext cx="145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理解</a:t>
            </a:r>
            <a:endParaRPr lang="zh-TW"/>
          </a:p>
        </p:txBody>
      </p:sp>
      <p:cxnSp>
        <p:nvCxnSpPr>
          <p:cNvPr id="3" name="Connector"/>
          <p:cNvCxnSpPr/>
          <p:nvPr/>
        </p:nvCxnSpPr>
        <p:spPr>
          <a:xfrm>
            <a:off x="4000000" y="3200000"/>
            <a:ext cx="40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sp>
        <p:nvSpPr>
          <p:cNvPr id="2" name="Shape"/>
          <p:cNvSpPr/>
          <p:nvPr/>
        </p:nvSpPr>
        <p:spPr>
          <a:xfrm>
            <a:off x="4450000" y="2850000"/>
            <a:ext cx="1450000" cy="7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4450000" y="3060000"/>
            <a:ext cx="145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規劃</a:t>
            </a:r>
            <a:endParaRPr lang="zh-TW"/>
          </a:p>
        </p:txBody>
      </p:sp>
      <p:cxnSp>
        <p:nvCxnSpPr>
          <p:cNvPr id="3" name="Connector"/>
          <p:cNvCxnSpPr/>
          <p:nvPr/>
        </p:nvCxnSpPr>
        <p:spPr>
          <a:xfrm>
            <a:off x="5900000" y="3200000"/>
            <a:ext cx="40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sp>
        <p:nvSpPr>
          <p:cNvPr id="2" name="Shape"/>
          <p:cNvSpPr/>
          <p:nvPr/>
        </p:nvSpPr>
        <p:spPr>
          <a:xfrm>
            <a:off x="6350000" y="2850000"/>
            <a:ext cx="1450000" cy="70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6350000" y="3060000"/>
            <a:ext cx="145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執行</a:t>
            </a:r>
            <a:endParaRPr lang="zh-TW"/>
          </a:p>
        </p:txBody>
      </p:sp>
      <p:cxnSp>
        <p:nvCxnSpPr>
          <p:cNvPr id="3" name="Connector"/>
          <p:cNvCxnSpPr/>
          <p:nvPr/>
        </p:nvCxnSpPr>
        <p:spPr>
          <a:xfrm>
            <a:off x="7800000" y="3200000"/>
            <a:ext cx="40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sp>
        <p:nvSpPr>
          <p:cNvPr id="2" name="Shape"/>
          <p:cNvSpPr/>
          <p:nvPr/>
        </p:nvSpPr>
        <p:spPr>
          <a:xfrm>
            <a:off x="8250000" y="2850000"/>
            <a:ext cx="1450000" cy="7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8250000" y="3060000"/>
            <a:ext cx="145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觀察</a:t>
            </a:r>
            <a:endParaRPr lang="zh-TW"/>
          </a:p>
        </p:txBody>
      </p:sp>
      <p:cxnSp>
        <p:nvCxnSpPr>
          <p:cNvPr id="3" name="Connector"/>
          <p:cNvCxnSpPr/>
          <p:nvPr/>
        </p:nvCxnSpPr>
        <p:spPr>
          <a:xfrm>
            <a:off x="9700000" y="3200000"/>
            <a:ext cx="40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sp>
        <p:nvSpPr>
          <p:cNvPr id="2" name="Shape"/>
          <p:cNvSpPr/>
          <p:nvPr/>
        </p:nvSpPr>
        <p:spPr>
          <a:xfrm>
            <a:off x="10150000" y="2850000"/>
            <a:ext cx="1450000" cy="70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0150000" y="3060000"/>
            <a:ext cx="145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調整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500000" y="4450000"/>
            <a:ext cx="9000000" cy="5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400" b="1" solidFill="54D5FF" typeface="Microsoft JhengHei"/>
              <a:t>Plan  →  Act  →  Observe  →  Improve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04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核心能力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AI Agent 由五種能力共同構成。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750000" y="2350000"/>
            <a:ext cx="3100000" cy="11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950000" y="2570000"/>
            <a:ext cx="2700000" cy="2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000" b="1" solidFill="54D5FF" typeface="Microsoft JhengHei"/>
              <a:t>推理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950000" y="2940000"/>
            <a:ext cx="27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400" b="0" solidFill="EAF2FF" typeface="Microsoft JhengHei"/>
              <a:t>分析情境，選擇策略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4400000" y="2350000"/>
            <a:ext cx="3100000" cy="11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4600000" y="2570000"/>
            <a:ext cx="2700000" cy="2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000" b="1" solidFill="54D5FF" typeface="Microsoft JhengHei"/>
              <a:t>規劃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4600000" y="2940000"/>
            <a:ext cx="27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400" b="0" solidFill="EAF2FF" typeface="Microsoft JhengHei"/>
              <a:t>把目標拆成可做步驟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8050000" y="2350000"/>
            <a:ext cx="3100000" cy="11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8250000" y="2570000"/>
            <a:ext cx="2700000" cy="2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000" b="1" solidFill="54D5FF" typeface="Microsoft JhengHei"/>
              <a:t>工具使用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8250000" y="2940000"/>
            <a:ext cx="27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400" b="0" solidFill="EAF2FF" typeface="Microsoft JhengHei"/>
              <a:t>搜尋、API、程式、資料庫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750000" y="3950000"/>
            <a:ext cx="3100000" cy="11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950000" y="4170000"/>
            <a:ext cx="2700000" cy="2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000" b="1" solidFill="54D5FF" typeface="Microsoft JhengHei"/>
              <a:t>記憶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950000" y="4540000"/>
            <a:ext cx="27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400" b="0" solidFill="EAF2FF" typeface="Microsoft JhengHei"/>
              <a:t>保留脈絡與偏好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4400000" y="3950000"/>
            <a:ext cx="3100000" cy="11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4600000" y="4170000"/>
            <a:ext cx="2700000" cy="2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000" b="1" solidFill="54D5FF" typeface="Microsoft JhengHei"/>
              <a:t>自主執行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4600000" y="4540000"/>
            <a:ext cx="27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400" b="0" solidFill="EAF2FF" typeface="Microsoft JhengHei"/>
              <a:t>在授權範圍內推進任務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05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典型架構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LLM 擔任大腦，連接規劃、記憶與外部工具。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4300000" y="2600000"/>
            <a:ext cx="3600000" cy="95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4500000" y="2900000"/>
            <a:ext cx="3200000" cy="26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200" b="1" solidFill="FFFFFF" typeface="Microsoft JhengHei"/>
              <a:t>大型語言模型（LLM）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850000" y="2600000"/>
            <a:ext cx="2200000" cy="9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050000" y="2900000"/>
            <a:ext cx="180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使用者目標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850000" y="4400000"/>
            <a:ext cx="2200000" cy="9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050000" y="4700000"/>
            <a:ext cx="180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記憶系統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9050000" y="2600000"/>
            <a:ext cx="2200000" cy="9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9250000" y="2900000"/>
            <a:ext cx="180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規劃器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9050000" y="4400000"/>
            <a:ext cx="2200000" cy="95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9250000" y="4700000"/>
            <a:ext cx="1800000" cy="2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900" b="1" solidFill="FFFFFF" typeface="Microsoft JhengHei"/>
              <a:t>外部工具 / API</a:t>
            </a:r>
            <a:endParaRPr lang="zh-TW"/>
          </a:p>
        </p:txBody>
      </p:sp>
      <p:cxnSp>
        <p:nvCxnSpPr>
          <p:cNvPr id="3" name="Connector"/>
          <p:cNvCxnSpPr/>
          <p:nvPr/>
        </p:nvCxnSpPr>
        <p:spPr>
          <a:xfrm>
            <a:off x="3050000" y="3075000"/>
            <a:ext cx="125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cxnSp>
        <p:nvCxnSpPr>
          <p:cNvPr id="3" name="Connector"/>
          <p:cNvCxnSpPr/>
          <p:nvPr/>
        </p:nvCxnSpPr>
        <p:spPr>
          <a:xfrm>
            <a:off x="4300000" y="3475000"/>
            <a:ext cx="-1250000" cy="140000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cxnSp>
        <p:nvCxnSpPr>
          <p:cNvPr id="3" name="Connector"/>
          <p:cNvCxnSpPr/>
          <p:nvPr/>
        </p:nvCxnSpPr>
        <p:spPr>
          <a:xfrm>
            <a:off x="7900000" y="3075000"/>
            <a:ext cx="1150000" cy="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  <p:cxnSp>
        <p:nvCxnSpPr>
          <p:cNvPr id="3" name="Connector"/>
          <p:cNvCxnSpPr/>
          <p:nvPr/>
        </p:nvCxnSpPr>
        <p:spPr>
          <a:xfrm>
            <a:off x="7900000" y="3475000"/>
            <a:ext cx="1150000" cy="1400000"/>
          </a:xfrm>
          <a:prstGeom prst="line">
            <a:avLst/>
          </a:prstGeom>
          <a:ln w="24000">
            <a:solidFill>
              <a:srgbClr val="54D5FF"/>
            </a:solidFill>
            <a:tailEnd type="none"/>
            <a:headEnd type="triangle"/>
          </a:ln>
        </p:spPr>
        <p:style/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06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真實應用場景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將跨系統、重複且有規則的工作交給 Agent。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850000" y="2300000"/>
            <a:ext cx="4800000" cy="12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150000" y="2550000"/>
            <a:ext cx="1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100" b="1" solidFill="54D5FF" typeface="Microsoft JhengHei"/>
              <a:t>客服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150000" y="2970000"/>
            <a:ext cx="4000000" cy="26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EAF2FF" typeface="Microsoft JhengHei"/>
              <a:t>查訂單、退貨、建立工單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6400000" y="2300000"/>
            <a:ext cx="4800000" cy="12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6700000" y="2550000"/>
            <a:ext cx="1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100" b="1" solidFill="54D5FF" typeface="Microsoft JhengHei"/>
              <a:t>軟體開發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700000" y="2970000"/>
            <a:ext cx="4000000" cy="26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EAF2FF" typeface="Microsoft JhengHei"/>
              <a:t>寫程式、測試、修正 Bug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850000" y="3950000"/>
            <a:ext cx="4800000" cy="12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150000" y="4200000"/>
            <a:ext cx="1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100" b="1" solidFill="54D5FF" typeface="Microsoft JhengHei"/>
              <a:t>商業分析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150000" y="4620000"/>
            <a:ext cx="4000000" cy="26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EAF2FF" typeface="Microsoft JhengHei"/>
              <a:t>蒐集市場訊息、生成報表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6400000" y="3950000"/>
            <a:ext cx="4800000" cy="12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6700000" y="4200000"/>
            <a:ext cx="1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2100" b="1" solidFill="54D5FF" typeface="Microsoft JhengHei"/>
              <a:t>個人助理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700000" y="4620000"/>
            <a:ext cx="4000000" cy="26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EAF2FF" typeface="Microsoft JhengHei"/>
              <a:t>安排行程、預約與提醒</a:t>
            </a:r>
            <a:endParaRPr 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07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為什麼現在重要？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模型能力與工具整合成熟，AI 開始能「做事」。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900000" y="2400000"/>
            <a:ext cx="3200000" cy="19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Shape"/>
          <p:cNvSpPr/>
          <p:nvPr/>
        </p:nvSpPr>
        <p:spPr>
          <a:xfrm>
            <a:off x="4450000" y="2400000"/>
            <a:ext cx="3200000" cy="1900000"/>
          </a:xfrm>
          <a:prstGeom prst="roundRect">
            <a:avLst/>
          </a:prstGeom>
          <a:solidFill>
            <a:srgbClr val="1726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Shape"/>
          <p:cNvSpPr/>
          <p:nvPr/>
        </p:nvSpPr>
        <p:spPr>
          <a:xfrm>
            <a:off x="8000000" y="2400000"/>
            <a:ext cx="3200000" cy="190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200000" y="2800000"/>
            <a:ext cx="2600000" cy="3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500" b="1" solidFill="54D5FF" typeface="Microsoft JhengHei"/>
              <a:t>效率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200000" y="3300000"/>
            <a:ext cx="2600000" cy="4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700" b="1" solidFill="EAF2FF" typeface="Microsoft JhengHei"/>
              <a:t>自動化重複流程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4750000" y="2800000"/>
            <a:ext cx="2600000" cy="3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500" b="1" solidFill="54D5FF" typeface="Microsoft JhengHei"/>
              <a:t>規模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4750000" y="3300000"/>
            <a:ext cx="2600000" cy="4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700" b="0" solidFill="EAF2FF" typeface="Microsoft JhengHei"/>
              <a:t>跨系統同步執行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8300000" y="2800000"/>
            <a:ext cx="2600000" cy="3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500" b="1" solidFill="54D5FF" typeface="Microsoft JhengHei"/>
              <a:t>協作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8300000" y="3300000"/>
            <a:ext cx="2600000" cy="4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700" b="0" solidFill="EAF2FF" typeface="Microsoft JhengHei"/>
              <a:t>人類專注判斷與創造</a:t>
            </a:r>
            <a:endParaRPr 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0" name=""/>
        <p:cNvGrpSpPr/>
        <p:nvPr/>
      </p:nvGrpSpPr>
      <p:grpSpPr/>
      <p:sp>
        <p:nvSpPr>
          <p:cNvPr id="1" name="Text"/>
          <p:cNvSpPr txBox="1"/>
          <p:nvPr/>
        </p:nvSpPr>
        <p:spPr>
          <a:xfrm>
            <a:off x="650000" y="380000"/>
            <a:ext cx="1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1" solidFill="54D5FF" typeface="Microsoft JhengHei"/>
              <a:t>08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700000"/>
            <a:ext cx="10500000" cy="6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3400" b="1" solidFill="FFFFFF" typeface="Microsoft JhengHei"/>
              <a:t>一句話總結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650000" y="1400000"/>
            <a:ext cx="10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zh-TW" sz="1500" b="0" solidFill="A9B8D4" typeface="Microsoft JhengHei"/>
              <a:t>AI Chatbot 會回答；AI Agent 能在授權下完成任務。</a:t>
            </a:r>
            <a:endParaRPr lang="zh-TW"/>
          </a:p>
        </p:txBody>
      </p:sp>
      <p:sp>
        <p:nvSpPr>
          <p:cNvPr id="2" name="Shape"/>
          <p:cNvSpPr/>
          <p:nvPr/>
        </p:nvSpPr>
        <p:spPr>
          <a:xfrm>
            <a:off x="1200000" y="2500000"/>
            <a:ext cx="9800000" cy="1650000"/>
          </a:xfrm>
          <a:prstGeom prst="roundRect">
            <a:avLst/>
          </a:prstGeom>
          <a:solidFill>
            <a:srgbClr val="123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Text"/>
          <p:cNvSpPr txBox="1"/>
          <p:nvPr/>
        </p:nvSpPr>
        <p:spPr>
          <a:xfrm>
            <a:off x="1750000" y="2850000"/>
            <a:ext cx="8700000" cy="60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2700" b="1" solidFill="FFFFFF" typeface="Microsoft JhengHei"/>
              <a:t>「能規劃、會行動、會觀察、會調整」的 AI 協作者</a:t>
            </a:r>
            <a:endParaRPr lang="zh-TW"/>
          </a:p>
        </p:txBody>
      </p:sp>
      <p:sp>
        <p:nvSpPr>
          <p:cNvPr id="1" name="Text"/>
          <p:cNvSpPr txBox="1"/>
          <p:nvPr/>
        </p:nvSpPr>
        <p:spPr>
          <a:xfrm>
            <a:off x="1400000" y="4850000"/>
            <a:ext cx="9000000" cy="450000"/>
          </a:xfrm>
          <a:noFill/>
          <a:ln>
            <a:noFill/>
          </a:ln>
        </p:spPr>
        <p:txBody>
          <a:bodyPr wrap="square"/>
          <a:lstStyle/>
          <a:p>
            <a:pPr algn="ctr"/>
            <a:r>
              <a:rPr lang="zh-TW" sz="1800" b="0" solidFill="A9B8D4" typeface="Microsoft JhengHei"/>
              <a:t>從小而明確的流程開始導入，逐步擴展到跨系統工作。</a:t>
            </a:r>
            <a:endParaRPr lang="zh-TW"/>
          </a:p>
        </p:txBody>
      </p:sp>
    </p:spTree>
  </p:cSld>
  <p:clrMapOvr>
    <a:masterClrMapping/>
  </p:clrMapOvr>
</p:sld>
</file>